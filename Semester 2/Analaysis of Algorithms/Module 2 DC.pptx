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9" r:id="rId3"/>
    <p:sldId id="257" r:id="rId4"/>
    <p:sldId id="258" r:id="rId5"/>
    <p:sldId id="265" r:id="rId6"/>
    <p:sldId id="266" r:id="rId7"/>
    <p:sldId id="267" r:id="rId8"/>
    <p:sldId id="268" r:id="rId9"/>
    <p:sldId id="269" r:id="rId10"/>
    <p:sldId id="260" r:id="rId11"/>
    <p:sldId id="261" r:id="rId12"/>
    <p:sldId id="262" r:id="rId13"/>
    <p:sldId id="263" r:id="rId14"/>
    <p:sldId id="264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60"/>
    <p:restoredTop sz="91334"/>
  </p:normalViewPr>
  <p:slideViewPr>
    <p:cSldViewPr snapToGrid="0">
      <p:cViewPr varScale="1">
        <p:scale>
          <a:sx n="101" d="100"/>
          <a:sy n="101" d="100"/>
        </p:scale>
        <p:origin x="1064" y="4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opal Sonune" userId="a84d000b-e407-4958-bec6-a75de855f8bf" providerId="ADAL" clId="{D0EF16FA-9EFB-509C-8E8C-C131BFF6A01F}"/>
    <pc:docChg chg="modSld">
      <pc:chgData name="Gopal Sonune" userId="a84d000b-e407-4958-bec6-a75de855f8bf" providerId="ADAL" clId="{D0EF16FA-9EFB-509C-8E8C-C131BFF6A01F}" dt="2026-02-09T07:02:43.519" v="4" actId="1076"/>
      <pc:docMkLst>
        <pc:docMk/>
      </pc:docMkLst>
      <pc:sldChg chg="modSp mod">
        <pc:chgData name="Gopal Sonune" userId="a84d000b-e407-4958-bec6-a75de855f8bf" providerId="ADAL" clId="{D0EF16FA-9EFB-509C-8E8C-C131BFF6A01F}" dt="2026-02-09T07:02:43.519" v="4" actId="1076"/>
        <pc:sldMkLst>
          <pc:docMk/>
          <pc:sldMk cId="1797826256" sldId="263"/>
        </pc:sldMkLst>
        <pc:spChg chg="mod">
          <ac:chgData name="Gopal Sonune" userId="a84d000b-e407-4958-bec6-a75de855f8bf" providerId="ADAL" clId="{D0EF16FA-9EFB-509C-8E8C-C131BFF6A01F}" dt="2026-02-09T06:32:40.325" v="0" actId="207"/>
          <ac:spMkLst>
            <pc:docMk/>
            <pc:sldMk cId="1797826256" sldId="263"/>
            <ac:spMk id="5" creationId="{968F385C-2F95-416E-92C0-2F8EE24AF27E}"/>
          </ac:spMkLst>
        </pc:spChg>
        <pc:cxnChg chg="mod">
          <ac:chgData name="Gopal Sonune" userId="a84d000b-e407-4958-bec6-a75de855f8bf" providerId="ADAL" clId="{D0EF16FA-9EFB-509C-8E8C-C131BFF6A01F}" dt="2026-02-09T07:02:43.519" v="4" actId="1076"/>
          <ac:cxnSpMkLst>
            <pc:docMk/>
            <pc:sldMk cId="1797826256" sldId="263"/>
            <ac:cxnSpMk id="9" creationId="{B8032D24-0F97-4A13-A4C6-67B06D100B32}"/>
          </ac:cxnSpMkLst>
        </pc:cxnChg>
      </pc:sldChg>
      <pc:sldChg chg="modSp mod">
        <pc:chgData name="Gopal Sonune" userId="a84d000b-e407-4958-bec6-a75de855f8bf" providerId="ADAL" clId="{D0EF16FA-9EFB-509C-8E8C-C131BFF6A01F}" dt="2026-02-09T06:33:07.780" v="3" actId="207"/>
        <pc:sldMkLst>
          <pc:docMk/>
          <pc:sldMk cId="2033110497" sldId="264"/>
        </pc:sldMkLst>
        <pc:spChg chg="mod">
          <ac:chgData name="Gopal Sonune" userId="a84d000b-e407-4958-bec6-a75de855f8bf" providerId="ADAL" clId="{D0EF16FA-9EFB-509C-8E8C-C131BFF6A01F}" dt="2026-02-09T06:33:07.780" v="3" actId="207"/>
          <ac:spMkLst>
            <pc:docMk/>
            <pc:sldMk cId="2033110497" sldId="264"/>
            <ac:spMk id="3" creationId="{28E454F6-F3F5-4EAF-8B48-7C81CAA8B0DA}"/>
          </ac:spMkLst>
        </pc:spChg>
        <pc:spChg chg="mod">
          <ac:chgData name="Gopal Sonune" userId="a84d000b-e407-4958-bec6-a75de855f8bf" providerId="ADAL" clId="{D0EF16FA-9EFB-509C-8E8C-C131BFF6A01F}" dt="2026-02-09T06:32:58.449" v="1" actId="207"/>
          <ac:spMkLst>
            <pc:docMk/>
            <pc:sldMk cId="2033110497" sldId="264"/>
            <ac:spMk id="5" creationId="{968F385C-2F95-416E-92C0-2F8EE24AF27E}"/>
          </ac:spMkLst>
        </pc:spChg>
        <pc:spChg chg="mod">
          <ac:chgData name="Gopal Sonune" userId="a84d000b-e407-4958-bec6-a75de855f8bf" providerId="ADAL" clId="{D0EF16FA-9EFB-509C-8E8C-C131BFF6A01F}" dt="2026-02-09T06:33:02.078" v="2" actId="207"/>
          <ac:spMkLst>
            <pc:docMk/>
            <pc:sldMk cId="2033110497" sldId="264"/>
            <ac:spMk id="6" creationId="{2021CED3-380B-4F08-B4C0-3FDA82E8EA94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2-15T19:37:03.0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2-15T19:37:03.0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2-15T19:37:03.0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1F6A4-C89D-4A11-84A6-2BFC3161B0CB}" type="datetimeFigureOut">
              <a:rPr lang="en-IN" smtClean="0"/>
              <a:t>09/02/26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80606-7D7B-4416-9189-FDAB9555AD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25011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1F6A4-C89D-4A11-84A6-2BFC3161B0CB}" type="datetimeFigureOut">
              <a:rPr lang="en-IN" smtClean="0"/>
              <a:t>09/02/26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80606-7D7B-4416-9189-FDAB9555AD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1052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1F6A4-C89D-4A11-84A6-2BFC3161B0CB}" type="datetimeFigureOut">
              <a:rPr lang="en-IN" smtClean="0"/>
              <a:t>09/02/26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80606-7D7B-4416-9189-FDAB9555AD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10676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1F6A4-C89D-4A11-84A6-2BFC3161B0CB}" type="datetimeFigureOut">
              <a:rPr lang="en-IN" smtClean="0"/>
              <a:t>09/02/26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80606-7D7B-4416-9189-FDAB9555AD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62417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1F6A4-C89D-4A11-84A6-2BFC3161B0CB}" type="datetimeFigureOut">
              <a:rPr lang="en-IN" smtClean="0"/>
              <a:t>09/02/26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80606-7D7B-4416-9189-FDAB9555ADB1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1887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1F6A4-C89D-4A11-84A6-2BFC3161B0CB}" type="datetimeFigureOut">
              <a:rPr lang="en-IN" smtClean="0"/>
              <a:t>09/02/26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80606-7D7B-4416-9189-FDAB9555AD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55176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1F6A4-C89D-4A11-84A6-2BFC3161B0CB}" type="datetimeFigureOut">
              <a:rPr lang="en-IN" smtClean="0"/>
              <a:t>09/02/26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80606-7D7B-4416-9189-FDAB9555AD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91315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1F6A4-C89D-4A11-84A6-2BFC3161B0CB}" type="datetimeFigureOut">
              <a:rPr lang="en-IN" smtClean="0"/>
              <a:t>09/02/26</a:t>
            </a:fld>
            <a:endParaRPr lang="en-IN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80606-7D7B-4416-9189-FDAB9555AD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42208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7921F6A4-C89D-4A11-84A6-2BFC3161B0CB}" type="datetimeFigureOut">
              <a:rPr lang="en-IN" smtClean="0"/>
              <a:t>09/02/26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80606-7D7B-4416-9189-FDAB9555AD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0480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1F6A4-C89D-4A11-84A6-2BFC3161B0CB}" type="datetimeFigureOut">
              <a:rPr lang="en-IN" smtClean="0"/>
              <a:t>09/02/26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80606-7D7B-4416-9189-FDAB9555AD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60903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1F6A4-C89D-4A11-84A6-2BFC3161B0CB}" type="datetimeFigureOut">
              <a:rPr lang="en-IN" smtClean="0"/>
              <a:t>09/02/26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80606-7D7B-4416-9189-FDAB9555AD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9924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7921F6A4-C89D-4A11-84A6-2BFC3161B0CB}" type="datetimeFigureOut">
              <a:rPr lang="en-IN" smtClean="0"/>
              <a:t>09/02/26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27E80606-7D7B-4416-9189-FDAB9555AD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1613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10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31450-82A1-4C5A-860D-437BE1B1755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Divide and Conquer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5B9573-B92C-4C18-B29B-42C201C9B8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AOA : Module 2</a:t>
            </a:r>
          </a:p>
        </p:txBody>
      </p:sp>
    </p:spTree>
    <p:extLst>
      <p:ext uri="{BB962C8B-B14F-4D97-AF65-F5344CB8AC3E}">
        <p14:creationId xmlns:p14="http://schemas.microsoft.com/office/powerpoint/2010/main" val="7608390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CE7B3-C812-4C43-83A9-429A45042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0E7468-8948-4B7A-8912-C441A68FD5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1"/>
            <a:r>
              <a:rPr lang="en-IN" sz="2800" dirty="0"/>
              <a:t>Binary Search</a:t>
            </a:r>
          </a:p>
          <a:p>
            <a:pPr lvl="1"/>
            <a:r>
              <a:rPr lang="en-IN" sz="2800" dirty="0"/>
              <a:t>Find Maximum and Minimum</a:t>
            </a:r>
          </a:p>
          <a:p>
            <a:pPr lvl="1"/>
            <a:r>
              <a:rPr lang="en-IN" sz="2800" dirty="0">
                <a:hlinkClick r:id="rId2" action="ppaction://hlinksldjump"/>
              </a:rPr>
              <a:t>Merge Sort</a:t>
            </a:r>
            <a:endParaRPr lang="en-IN" sz="2800" dirty="0"/>
          </a:p>
          <a:p>
            <a:pPr lvl="1"/>
            <a:r>
              <a:rPr lang="en-IN" sz="2800" dirty="0"/>
              <a:t>Quick Sort</a:t>
            </a:r>
          </a:p>
          <a:p>
            <a:pPr lvl="1"/>
            <a:r>
              <a:rPr lang="en-IN" sz="2800" dirty="0"/>
              <a:t>Strassen’s Matrix Multiplication</a:t>
            </a:r>
          </a:p>
          <a:p>
            <a:pPr lvl="1"/>
            <a:r>
              <a:rPr lang="en-IN" sz="2800" dirty="0"/>
              <a:t>Heap Sort</a:t>
            </a:r>
          </a:p>
        </p:txBody>
      </p:sp>
    </p:spTree>
    <p:extLst>
      <p:ext uri="{BB962C8B-B14F-4D97-AF65-F5344CB8AC3E}">
        <p14:creationId xmlns:p14="http://schemas.microsoft.com/office/powerpoint/2010/main" val="35787932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580EB-91AB-4B91-9965-B41236A2A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42021"/>
            <a:ext cx="7729728" cy="1188720"/>
          </a:xfrm>
        </p:spPr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754B7C-FBDD-403C-875F-0F3BD2D20A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457" y="1592826"/>
            <a:ext cx="11459497" cy="5023153"/>
          </a:xfrm>
        </p:spPr>
        <p:txBody>
          <a:bodyPr>
            <a:normAutofit/>
          </a:bodyPr>
          <a:lstStyle/>
          <a:p>
            <a:r>
              <a:rPr lang="en-IN" sz="2800" dirty="0"/>
              <a:t>Original problem is divided into </a:t>
            </a:r>
            <a:r>
              <a:rPr lang="en-IN" sz="2800" u="sng" dirty="0"/>
              <a:t>similar kind of subproblems </a:t>
            </a:r>
            <a:r>
              <a:rPr lang="en-IN" sz="2800" dirty="0"/>
              <a:t>that are smaller in size and easy to be find.</a:t>
            </a:r>
          </a:p>
          <a:p>
            <a:r>
              <a:rPr lang="en-IN" sz="2800" dirty="0"/>
              <a:t>The solution of these small independent subproblems are combined to obtain the solution of whole problem.</a:t>
            </a:r>
          </a:p>
          <a:p>
            <a:r>
              <a:rPr lang="en-IN" sz="2800" dirty="0"/>
              <a:t>Divide and Conquer paradigm solves a problem in three steps at each level of recursion:</a:t>
            </a:r>
          </a:p>
          <a:p>
            <a:pPr marL="742950" lvl="1" indent="-514350">
              <a:buFont typeface="+mj-lt"/>
              <a:buAutoNum type="arabicPeriod"/>
            </a:pPr>
            <a:r>
              <a:rPr lang="en-IN" sz="2600" dirty="0"/>
              <a:t>Divide</a:t>
            </a:r>
          </a:p>
          <a:p>
            <a:pPr marL="742950" lvl="1" indent="-514350">
              <a:buFont typeface="+mj-lt"/>
              <a:buAutoNum type="arabicPeriod"/>
            </a:pPr>
            <a:r>
              <a:rPr lang="en-IN" sz="2600" dirty="0"/>
              <a:t>Conquer</a:t>
            </a:r>
          </a:p>
          <a:p>
            <a:pPr marL="742950" lvl="1" indent="-514350">
              <a:buFont typeface="+mj-lt"/>
              <a:buAutoNum type="arabicPeriod"/>
            </a:pPr>
            <a:r>
              <a:rPr lang="en-IN" sz="2600" dirty="0"/>
              <a:t>Combine</a:t>
            </a:r>
          </a:p>
        </p:txBody>
      </p:sp>
    </p:spTree>
    <p:extLst>
      <p:ext uri="{BB962C8B-B14F-4D97-AF65-F5344CB8AC3E}">
        <p14:creationId xmlns:p14="http://schemas.microsoft.com/office/powerpoint/2010/main" val="33855024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580EB-91AB-4B91-9965-B41236A2A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42021"/>
            <a:ext cx="7729728" cy="1188720"/>
          </a:xfrm>
        </p:spPr>
        <p:txBody>
          <a:bodyPr/>
          <a:lstStyle/>
          <a:p>
            <a:r>
              <a:rPr lang="en-IN" dirty="0"/>
              <a:t>Introduction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754B7C-FBDD-403C-875F-0F3BD2D20AC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83457" y="1592826"/>
                <a:ext cx="11459497" cy="5023153"/>
              </a:xfrm>
            </p:spPr>
            <p:txBody>
              <a:bodyPr>
                <a:normAutofit/>
              </a:bodyPr>
              <a:lstStyle/>
              <a:p>
                <a:r>
                  <a:rPr lang="en-IN" sz="2600" dirty="0"/>
                  <a:t>Time complexity to solve  “Divide &amp; Conquer” problem is given by recurrence relations.</a:t>
                </a:r>
              </a:p>
              <a:p>
                <a:r>
                  <a:rPr lang="en-IN" sz="2600" dirty="0"/>
                  <a:t>Recurrence relation is derived from algorithm and solved to calculate complexity.</a:t>
                </a:r>
              </a:p>
              <a:p>
                <a:r>
                  <a:rPr lang="en-IN" sz="2600" dirty="0"/>
                  <a:t>The general recurrence relation for divide and conquer is given as follows:</a:t>
                </a:r>
              </a:p>
              <a:p>
                <a:pPr marL="228600" lvl="1" indent="0">
                  <a:buNone/>
                </a:pPr>
                <a:endParaRPr lang="en-IN" sz="2400" b="0" i="1" dirty="0">
                  <a:latin typeface="Cambria Math" panose="02040503050406030204" pitchFamily="18" charset="0"/>
                </a:endParaRPr>
              </a:p>
              <a:p>
                <a:pPr marL="2286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IN" sz="24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4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IN" sz="24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4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𝒂𝑻</m:t>
                      </m:r>
                      <m:d>
                        <m:dPr>
                          <m:ctrlPr>
                            <a:rPr lang="en-IN" sz="24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sz="24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4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num>
                            <m:den>
                              <m:r>
                                <a:rPr lang="en-IN" sz="24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den>
                          </m:f>
                        </m:e>
                      </m:d>
                      <m:r>
                        <a:rPr lang="en-IN" sz="24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sz="24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IN" sz="24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24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IN" sz="24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2400" b="1" dirty="0">
                  <a:solidFill>
                    <a:srgbClr val="002060"/>
                  </a:solidFill>
                </a:endParaRPr>
              </a:p>
              <a:p>
                <a:pPr marL="228600" lvl="1" indent="0">
                  <a:buNone/>
                </a:pPr>
                <a:r>
                  <a:rPr lang="en-IN" sz="2400" dirty="0"/>
                  <a:t>Where, 	</a:t>
                </a:r>
                <a:r>
                  <a:rPr lang="en-IN" sz="2400" b="1" dirty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𝑻</m:t>
                    </m:r>
                    <m:d>
                      <m:dPr>
                        <m:ctrlPr>
                          <a:rPr lang="en-I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sz="24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num>
                          <m:den>
                            <m:r>
                              <a:rPr lang="en-IN" sz="24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𝒃</m:t>
                            </m:r>
                          </m:den>
                        </m:f>
                      </m:e>
                    </m:d>
                  </m:oMath>
                </a14:m>
                <a:r>
                  <a:rPr lang="en-IN" sz="2400" dirty="0"/>
                  <a:t> : time required to solve each subproblem</a:t>
                </a:r>
              </a:p>
              <a:p>
                <a:pPr marL="228600" lvl="1" indent="0">
                  <a:buNone/>
                </a:pPr>
                <a:r>
                  <a:rPr lang="en-IN" sz="2400" dirty="0"/>
                  <a:t>		 </a:t>
                </a:r>
                <a14:m>
                  <m:oMath xmlns:m="http://schemas.openxmlformats.org/officeDocument/2006/math">
                    <m:r>
                      <a:rPr lang="en-I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I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I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sz="2400" dirty="0"/>
                  <a:t> : time required to combine the solutions of all subproblems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754B7C-FBDD-403C-875F-0F3BD2D20AC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3457" y="1592826"/>
                <a:ext cx="11459497" cy="5023153"/>
              </a:xfrm>
              <a:blipFill>
                <a:blip r:embed="rId2"/>
                <a:stretch>
                  <a:fillRect l="-851" t="-109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67182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580EB-91AB-4B91-9965-B41236A2A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42021"/>
            <a:ext cx="7729728" cy="878856"/>
          </a:xfrm>
        </p:spPr>
        <p:txBody>
          <a:bodyPr/>
          <a:lstStyle/>
          <a:p>
            <a:r>
              <a:rPr lang="en-IN" dirty="0"/>
              <a:t>Binary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754B7C-FBDD-403C-875F-0F3BD2D20A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457" y="1342104"/>
            <a:ext cx="11459497" cy="5515896"/>
          </a:xfrm>
        </p:spPr>
        <p:txBody>
          <a:bodyPr>
            <a:normAutofit fontScale="85000" lnSpcReduction="10000"/>
          </a:bodyPr>
          <a:lstStyle/>
          <a:p>
            <a:r>
              <a:rPr lang="en-IN" sz="2600" dirty="0"/>
              <a:t>There are two approaches:</a:t>
            </a:r>
          </a:p>
          <a:p>
            <a:pPr marL="685800" lvl="1" indent="-457200">
              <a:buFont typeface="+mj-lt"/>
              <a:buAutoNum type="arabicPeriod"/>
            </a:pPr>
            <a:r>
              <a:rPr lang="en-IN" sz="2400" dirty="0"/>
              <a:t>Iterative or Non-recursive</a:t>
            </a:r>
          </a:p>
          <a:p>
            <a:pPr marL="685800" lvl="1" indent="-457200">
              <a:buFont typeface="+mj-lt"/>
              <a:buAutoNum type="arabicPeriod"/>
            </a:pPr>
            <a:r>
              <a:rPr lang="en-IN" sz="2400" dirty="0"/>
              <a:t>Recursive</a:t>
            </a:r>
          </a:p>
          <a:p>
            <a:r>
              <a:rPr lang="en-IN" sz="2600" dirty="0"/>
              <a:t> There is a linear Array ‘a’ of size ‘n’.</a:t>
            </a:r>
          </a:p>
          <a:p>
            <a:r>
              <a:rPr lang="en-IN" sz="2600" dirty="0"/>
              <a:t> Binary Search is one of the fastest searching algorithm.</a:t>
            </a:r>
          </a:p>
          <a:p>
            <a:r>
              <a:rPr lang="en-IN" sz="2600" dirty="0"/>
              <a:t>Binary Search can only be applied on “Sorted Arrays”- either ascending or descending order.</a:t>
            </a:r>
          </a:p>
          <a:p>
            <a:r>
              <a:rPr lang="en-IN" sz="2600" dirty="0"/>
              <a:t>We compare “key” with item in the  middle position. If they are equal, search ends successfully.</a:t>
            </a:r>
          </a:p>
          <a:p>
            <a:r>
              <a:rPr lang="en-IN" sz="2600" dirty="0"/>
              <a:t>Otherwise, </a:t>
            </a:r>
          </a:p>
          <a:p>
            <a:pPr marL="0" indent="0">
              <a:buNone/>
            </a:pPr>
            <a:r>
              <a:rPr lang="en-IN" sz="2600" dirty="0"/>
              <a:t>	if key is less than element present in the middle position, </a:t>
            </a:r>
          </a:p>
          <a:p>
            <a:pPr marL="0" indent="0">
              <a:buNone/>
            </a:pPr>
            <a:r>
              <a:rPr lang="en-IN" sz="2600" dirty="0"/>
              <a:t>	then apply binary search on lower half, </a:t>
            </a:r>
          </a:p>
          <a:p>
            <a:pPr marL="0" indent="0">
              <a:buNone/>
            </a:pPr>
            <a:r>
              <a:rPr lang="en-IN" sz="2600" dirty="0"/>
              <a:t>	else apply BINARY SEARCH on upper half of the array.</a:t>
            </a:r>
          </a:p>
          <a:p>
            <a:r>
              <a:rPr lang="en-IN" sz="2600" dirty="0"/>
              <a:t>Same process is applied to remaining half until match is found or there are no more elements left</a:t>
            </a:r>
          </a:p>
          <a:p>
            <a:endParaRPr lang="en-IN" sz="2600" dirty="0"/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1934949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580EB-91AB-4B91-9965-B41236A2A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42021"/>
            <a:ext cx="7729728" cy="878856"/>
          </a:xfrm>
        </p:spPr>
        <p:txBody>
          <a:bodyPr/>
          <a:lstStyle/>
          <a:p>
            <a:r>
              <a:rPr lang="en-IN" dirty="0"/>
              <a:t>Binary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754B7C-FBDD-403C-875F-0F3BD2D20A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457" y="1342104"/>
            <a:ext cx="5471653" cy="5273875"/>
          </a:xfr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sz="2400" b="1" u="sng" dirty="0"/>
              <a:t>Iterative Approach: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Algorithm IBinaryS(arr[ ], start, end, key){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	int mid;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	while(start&lt;=end){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		mid = (start + end)/2;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		if (arr[mid] == key)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			return 1;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		if (arr[mid]&lt;key)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			start = mid+1;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		else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			end = mid-1;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	}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	return 0;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}</a:t>
            </a:r>
            <a:endParaRPr lang="en-IN" sz="2400" dirty="0">
              <a:latin typeface="Consolas" panose="020B0609020204030204" pitchFamily="49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4AA0796-ED09-40E5-853D-A9A3535D5DB4}"/>
              </a:ext>
            </a:extLst>
          </p:cNvPr>
          <p:cNvSpPr txBox="1">
            <a:spLocks/>
          </p:cNvSpPr>
          <p:nvPr/>
        </p:nvSpPr>
        <p:spPr>
          <a:xfrm>
            <a:off x="6336892" y="1342103"/>
            <a:ext cx="5471653" cy="5273875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IN" sz="2400" b="1" u="sng" dirty="0"/>
              <a:t>Recursive Approach: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dirty="0">
                <a:latin typeface="Consolas" panose="020B0609020204030204" pitchFamily="49" charset="0"/>
              </a:rPr>
              <a:t>Algorithm RBinaryS(arr[ ], start, end, key){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dirty="0">
                <a:latin typeface="Consolas" panose="020B0609020204030204" pitchFamily="49" charset="0"/>
              </a:rPr>
              <a:t>	int mid;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dirty="0">
                <a:latin typeface="Consolas" panose="020B0609020204030204" pitchFamily="49" charset="0"/>
              </a:rPr>
              <a:t>	if (start &gt; end) { return 0; }	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dirty="0">
                <a:latin typeface="Consolas" panose="020B0609020204030204" pitchFamily="49" charset="0"/>
              </a:rPr>
              <a:t>else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dirty="0">
                <a:latin typeface="Consolas" panose="020B0609020204030204" pitchFamily="49" charset="0"/>
              </a:rPr>
              <a:t>	mid = (start + end)/2;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dirty="0">
                <a:latin typeface="Consolas" panose="020B0609020204030204" pitchFamily="49" charset="0"/>
              </a:rPr>
              <a:t>	if (key == arr[mid])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dirty="0">
                <a:latin typeface="Consolas" panose="020B0609020204030204" pitchFamily="49" charset="0"/>
              </a:rPr>
              <a:t>	return (mid);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dirty="0">
                <a:latin typeface="Consolas" panose="020B0609020204030204" pitchFamily="49" charset="0"/>
              </a:rPr>
              <a:t>	else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dirty="0">
                <a:latin typeface="Consolas" panose="020B0609020204030204" pitchFamily="49" charset="0"/>
              </a:rPr>
              <a:t>	if (key &lt; arr[mid]){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dirty="0">
                <a:latin typeface="Consolas" panose="020B0609020204030204" pitchFamily="49" charset="0"/>
              </a:rPr>
              <a:t>	RBinaryS(arr[],key, start, mid-1)</a:t>
            </a:r>
            <a:endParaRPr lang="en-IN" cap="small" dirty="0">
              <a:latin typeface="Consolas" panose="020B06090202040302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IN" dirty="0">
                <a:latin typeface="Consolas" panose="020B0609020204030204" pitchFamily="49" charset="0"/>
              </a:rPr>
              <a:t>	else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	RBinaryS(arr[],key, mid+1, end)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dirty="0">
                <a:latin typeface="Consolas" panose="020B0609020204030204" pitchFamily="49" charset="0"/>
              </a:rPr>
              <a:t>	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dirty="0">
                <a:latin typeface="Consolas" panose="020B0609020204030204" pitchFamily="49" charset="0"/>
              </a:rPr>
              <a:t>}</a:t>
            </a:r>
            <a:endParaRPr lang="en-IN" sz="2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56650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580EB-91AB-4B91-9965-B41236A2A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42021"/>
            <a:ext cx="7729728" cy="878856"/>
          </a:xfrm>
        </p:spPr>
        <p:txBody>
          <a:bodyPr/>
          <a:lstStyle/>
          <a:p>
            <a:r>
              <a:rPr lang="en-IN" dirty="0"/>
              <a:t>Finding minimum and maximum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754B7C-FBDD-403C-875F-0F3BD2D20A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457" y="1342104"/>
            <a:ext cx="4965389" cy="4039977"/>
          </a:xfr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u="sng" dirty="0"/>
              <a:t>Iterative Approach: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Algorithm </a:t>
            </a:r>
            <a:r>
              <a:rPr lang="en-IN" dirty="0" err="1">
                <a:latin typeface="Consolas" panose="020B0609020204030204" pitchFamily="49" charset="0"/>
              </a:rPr>
              <a:t>MinMax</a:t>
            </a:r>
            <a:r>
              <a:rPr lang="en-IN" dirty="0">
                <a:latin typeface="Consolas" panose="020B0609020204030204" pitchFamily="49" charset="0"/>
              </a:rPr>
              <a:t>(a[ ], n, max, min){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	max=min=a[1];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	for(</a:t>
            </a:r>
            <a:r>
              <a:rPr lang="en-IN" dirty="0" err="1">
                <a:latin typeface="Consolas" panose="020B0609020204030204" pitchFamily="49" charset="0"/>
              </a:rPr>
              <a:t>i</a:t>
            </a:r>
            <a:r>
              <a:rPr lang="en-IN" dirty="0">
                <a:latin typeface="Consolas" panose="020B0609020204030204" pitchFamily="49" charset="0"/>
              </a:rPr>
              <a:t>=2 to n)do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{	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	if(a[</a:t>
            </a:r>
            <a:r>
              <a:rPr lang="en-IN" dirty="0" err="1">
                <a:latin typeface="Consolas" panose="020B0609020204030204" pitchFamily="49" charset="0"/>
              </a:rPr>
              <a:t>i</a:t>
            </a:r>
            <a:r>
              <a:rPr lang="en-IN" dirty="0">
                <a:latin typeface="Consolas" panose="020B0609020204030204" pitchFamily="49" charset="0"/>
              </a:rPr>
              <a:t>]&gt; max) then max=a[</a:t>
            </a:r>
            <a:r>
              <a:rPr lang="en-IN" dirty="0" err="1">
                <a:latin typeface="Consolas" panose="020B0609020204030204" pitchFamily="49" charset="0"/>
              </a:rPr>
              <a:t>i</a:t>
            </a:r>
            <a:r>
              <a:rPr lang="en-IN" dirty="0">
                <a:latin typeface="Consolas" panose="020B0609020204030204" pitchFamily="49" charset="0"/>
              </a:rPr>
              <a:t>];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	if (a[</a:t>
            </a:r>
            <a:r>
              <a:rPr lang="en-IN" dirty="0" err="1">
                <a:latin typeface="Consolas" panose="020B0609020204030204" pitchFamily="49" charset="0"/>
              </a:rPr>
              <a:t>i</a:t>
            </a:r>
            <a:r>
              <a:rPr lang="en-IN" dirty="0">
                <a:latin typeface="Consolas" panose="020B0609020204030204" pitchFamily="49" charset="0"/>
              </a:rPr>
              <a:t>]&lt; max) then min=a[</a:t>
            </a:r>
            <a:r>
              <a:rPr lang="en-IN" dirty="0" err="1">
                <a:latin typeface="Consolas" panose="020B0609020204030204" pitchFamily="49" charset="0"/>
              </a:rPr>
              <a:t>i</a:t>
            </a:r>
            <a:r>
              <a:rPr lang="en-IN" dirty="0">
                <a:latin typeface="Consolas" panose="020B0609020204030204" pitchFamily="49" charset="0"/>
              </a:rPr>
              <a:t>];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}	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}</a:t>
            </a:r>
            <a:endParaRPr lang="en-IN" sz="2400" dirty="0">
              <a:latin typeface="Consolas" panose="020B0609020204030204" pitchFamily="49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4AA0796-ED09-40E5-853D-A9A3535D5DB4}"/>
              </a:ext>
            </a:extLst>
          </p:cNvPr>
          <p:cNvSpPr txBox="1">
            <a:spLocks/>
          </p:cNvSpPr>
          <p:nvPr/>
        </p:nvSpPr>
        <p:spPr>
          <a:xfrm>
            <a:off x="6282813" y="1342103"/>
            <a:ext cx="5309059" cy="5269915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40000" lnSpcReduction="20000"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IN" sz="2400" b="1" u="sng" dirty="0"/>
              <a:t>Recursive Approach: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2500" dirty="0">
                <a:latin typeface="Consolas" panose="020B0609020204030204" pitchFamily="49" charset="0"/>
              </a:rPr>
              <a:t>Algorithm </a:t>
            </a:r>
            <a:r>
              <a:rPr lang="en-IN" sz="2500" dirty="0" err="1">
                <a:latin typeface="Consolas" panose="020B0609020204030204" pitchFamily="49" charset="0"/>
              </a:rPr>
              <a:t>MinMax</a:t>
            </a:r>
            <a:r>
              <a:rPr lang="en-IN" sz="2500" dirty="0">
                <a:latin typeface="Consolas" panose="020B0609020204030204" pitchFamily="49" charset="0"/>
              </a:rPr>
              <a:t>(a[ ], l, h, max, min) 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2500" dirty="0">
                <a:latin typeface="Consolas" panose="020B0609020204030204" pitchFamily="49" charset="0"/>
              </a:rPr>
              <a:t>	if(l==h) then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2500" dirty="0">
                <a:latin typeface="Consolas" panose="020B0609020204030204" pitchFamily="49" charset="0"/>
              </a:rPr>
              <a:t>		max=min=a[l];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2500" dirty="0">
                <a:latin typeface="Consolas" panose="020B0609020204030204" pitchFamily="49" charset="0"/>
              </a:rPr>
              <a:t>	else if	(h-l==1), then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2500" dirty="0">
                <a:latin typeface="Consolas" panose="020B0609020204030204" pitchFamily="49" charset="0"/>
              </a:rPr>
              <a:t>	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2500" dirty="0">
                <a:latin typeface="Consolas" panose="020B0609020204030204" pitchFamily="49" charset="0"/>
              </a:rPr>
              <a:t>	if(a[l]&gt;=a[h]), then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2500" dirty="0">
                <a:latin typeface="Consolas" panose="020B0609020204030204" pitchFamily="49" charset="0"/>
              </a:rPr>
              <a:t>		max=a[l];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2500" dirty="0">
                <a:latin typeface="Consolas" panose="020B0609020204030204" pitchFamily="49" charset="0"/>
              </a:rPr>
              <a:t>		min=a[h];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2500" dirty="0">
                <a:latin typeface="Consolas" panose="020B0609020204030204" pitchFamily="49" charset="0"/>
              </a:rPr>
              <a:t>	else{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2500" dirty="0">
                <a:latin typeface="Consolas" panose="020B0609020204030204" pitchFamily="49" charset="0"/>
              </a:rPr>
              <a:t>		max=a[h];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2500" dirty="0">
                <a:latin typeface="Consolas" panose="020B0609020204030204" pitchFamily="49" charset="0"/>
              </a:rPr>
              <a:t>		min=a[l];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2500" dirty="0">
                <a:latin typeface="Consolas" panose="020B0609020204030204" pitchFamily="49" charset="0"/>
              </a:rPr>
              <a:t>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2500" dirty="0">
                <a:latin typeface="Consolas" panose="020B0609020204030204" pitchFamily="49" charset="0"/>
              </a:rPr>
              <a:t>else{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2500" dirty="0">
                <a:latin typeface="Consolas" panose="020B0609020204030204" pitchFamily="49" charset="0"/>
              </a:rPr>
              <a:t>	Mid = (</a:t>
            </a:r>
            <a:r>
              <a:rPr lang="en-IN" sz="2500" dirty="0" err="1">
                <a:latin typeface="Consolas" panose="020B0609020204030204" pitchFamily="49" charset="0"/>
              </a:rPr>
              <a:t>l+h</a:t>
            </a:r>
            <a:r>
              <a:rPr lang="en-IN" sz="2500" dirty="0">
                <a:latin typeface="Consolas" panose="020B0609020204030204" pitchFamily="49" charset="0"/>
              </a:rPr>
              <a:t>)/2;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2500" dirty="0">
                <a:latin typeface="Consolas" panose="020B0609020204030204" pitchFamily="49" charset="0"/>
              </a:rPr>
              <a:t>	</a:t>
            </a:r>
            <a:r>
              <a:rPr lang="en-IN" sz="2500" dirty="0" err="1">
                <a:latin typeface="Consolas" panose="020B0609020204030204" pitchFamily="49" charset="0"/>
              </a:rPr>
              <a:t>MinMax</a:t>
            </a:r>
            <a:r>
              <a:rPr lang="en-IN" sz="2500">
                <a:latin typeface="Consolas" panose="020B0609020204030204" pitchFamily="49" charset="0"/>
              </a:rPr>
              <a:t>(l, </a:t>
            </a:r>
            <a:r>
              <a:rPr lang="en-IN" sz="2500" dirty="0">
                <a:latin typeface="Consolas" panose="020B0609020204030204" pitchFamily="49" charset="0"/>
              </a:rPr>
              <a:t>mid, max, min);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2500" dirty="0">
                <a:latin typeface="Consolas" panose="020B0609020204030204" pitchFamily="49" charset="0"/>
              </a:rPr>
              <a:t>	</a:t>
            </a:r>
            <a:r>
              <a:rPr lang="en-IN" sz="2500" dirty="0" err="1">
                <a:latin typeface="Consolas" panose="020B0609020204030204" pitchFamily="49" charset="0"/>
              </a:rPr>
              <a:t>MinMax</a:t>
            </a:r>
            <a:r>
              <a:rPr lang="en-IN" sz="2500" dirty="0">
                <a:latin typeface="Consolas" panose="020B0609020204030204" pitchFamily="49" charset="0"/>
              </a:rPr>
              <a:t>(mid+1, h, max, min);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2500" dirty="0">
                <a:latin typeface="Consolas" panose="020B0609020204030204" pitchFamily="49" charset="0"/>
              </a:rPr>
              <a:t>	if(max&lt; max1)  then max=max1;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2500" dirty="0">
                <a:latin typeface="Consolas" panose="020B0609020204030204" pitchFamily="49" charset="0"/>
              </a:rPr>
              <a:t>	if (min&gt;min1)then, min = min1;                           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2500" dirty="0">
                <a:latin typeface="Consolas" panose="020B0609020204030204" pitchFamily="49" charset="0"/>
              </a:rPr>
              <a:t>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2500" dirty="0">
                <a:latin typeface="Consolas" panose="020B0609020204030204" pitchFamily="49" charset="0"/>
              </a:rPr>
              <a:t>}</a:t>
            </a:r>
            <a:endParaRPr lang="en-IN" sz="2400" dirty="0">
              <a:latin typeface="Consolas" panose="020B0609020204030204" pitchFamily="49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DE86603-4F86-4144-888F-DA020288F143}"/>
                  </a:ext>
                </a:extLst>
              </p14:cNvPr>
              <p14:cNvContentPartPr/>
              <p14:nvPr/>
            </p14:nvContentPartPr>
            <p14:xfrm>
              <a:off x="5352805" y="2536351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DE86603-4F86-4144-888F-DA020288F14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344165" y="2527351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231041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580EB-91AB-4B91-9965-B41236A2A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42021"/>
            <a:ext cx="7729728" cy="878856"/>
          </a:xfrm>
        </p:spPr>
        <p:txBody>
          <a:bodyPr/>
          <a:lstStyle/>
          <a:p>
            <a:r>
              <a:rPr lang="en-IN" dirty="0"/>
              <a:t>Finding minimum and maximum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754B7C-FBDD-403C-875F-0F3BD2D20A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457" y="1342104"/>
            <a:ext cx="5412659" cy="5269914"/>
          </a:xfr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normAutofit fontScale="85000" lnSpcReduction="20000"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IN" sz="2000" b="1" u="sng" dirty="0"/>
              <a:t>Recursive Approach: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2400" dirty="0">
                <a:latin typeface="Consolas" panose="020B0609020204030204" pitchFamily="49" charset="0"/>
              </a:rPr>
              <a:t>Algorithm </a:t>
            </a:r>
            <a:r>
              <a:rPr lang="en-IN" sz="2400" dirty="0" err="1">
                <a:latin typeface="Consolas" panose="020B0609020204030204" pitchFamily="49" charset="0"/>
              </a:rPr>
              <a:t>MinMax</a:t>
            </a:r>
            <a:r>
              <a:rPr lang="en-IN" sz="2400" dirty="0">
                <a:latin typeface="Consolas" panose="020B0609020204030204" pitchFamily="49" charset="0"/>
              </a:rPr>
              <a:t>(a[ ], l, h, max, min) 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2400" dirty="0">
                <a:latin typeface="Consolas" panose="020B0609020204030204" pitchFamily="49" charset="0"/>
              </a:rPr>
              <a:t>	if(l==h) then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2400" dirty="0">
                <a:latin typeface="Consolas" panose="020B0609020204030204" pitchFamily="49" charset="0"/>
              </a:rPr>
              <a:t>		max=min=a[l];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2400" dirty="0">
                <a:latin typeface="Consolas" panose="020B0609020204030204" pitchFamily="49" charset="0"/>
              </a:rPr>
              <a:t>	else if(h-l==1), then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2400" dirty="0">
                <a:latin typeface="Consolas" panose="020B0609020204030204" pitchFamily="49" charset="0"/>
              </a:rPr>
              <a:t>	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2400" dirty="0">
                <a:latin typeface="Consolas" panose="020B0609020204030204" pitchFamily="49" charset="0"/>
              </a:rPr>
              <a:t>	if(a[l]&gt;=a[h]), then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2400" dirty="0">
                <a:latin typeface="Consolas" panose="020B0609020204030204" pitchFamily="49" charset="0"/>
              </a:rPr>
              <a:t>		max=a[l];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2400" dirty="0">
                <a:latin typeface="Consolas" panose="020B0609020204030204" pitchFamily="49" charset="0"/>
              </a:rPr>
              <a:t>		min=a[h];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2400" dirty="0">
                <a:latin typeface="Consolas" panose="020B0609020204030204" pitchFamily="49" charset="0"/>
              </a:rPr>
              <a:t>	else{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2400" dirty="0">
                <a:latin typeface="Consolas" panose="020B0609020204030204" pitchFamily="49" charset="0"/>
              </a:rPr>
              <a:t>		max=a[h];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2400" dirty="0">
                <a:latin typeface="Consolas" panose="020B0609020204030204" pitchFamily="49" charset="0"/>
              </a:rPr>
              <a:t>		min=a[l];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24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4AA0796-ED09-40E5-853D-A9A3535D5DB4}"/>
              </a:ext>
            </a:extLst>
          </p:cNvPr>
          <p:cNvSpPr txBox="1">
            <a:spLocks/>
          </p:cNvSpPr>
          <p:nvPr/>
        </p:nvSpPr>
        <p:spPr>
          <a:xfrm>
            <a:off x="6096001" y="1401097"/>
            <a:ext cx="5628967" cy="5210921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IN" sz="2000" dirty="0">
                <a:latin typeface="Consolas" panose="020B0609020204030204" pitchFamily="49" charset="0"/>
              </a:rPr>
              <a:t>else{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2000" dirty="0">
                <a:latin typeface="Consolas" panose="020B0609020204030204" pitchFamily="49" charset="0"/>
              </a:rPr>
              <a:t>	Mid = (</a:t>
            </a:r>
            <a:r>
              <a:rPr lang="en-IN" sz="2000" dirty="0" err="1">
                <a:latin typeface="Consolas" panose="020B0609020204030204" pitchFamily="49" charset="0"/>
              </a:rPr>
              <a:t>l+h</a:t>
            </a:r>
            <a:r>
              <a:rPr lang="en-IN" sz="2000" dirty="0">
                <a:latin typeface="Consolas" panose="020B0609020204030204" pitchFamily="49" charset="0"/>
              </a:rPr>
              <a:t>)/2;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2000" dirty="0">
                <a:latin typeface="Consolas" panose="020B0609020204030204" pitchFamily="49" charset="0"/>
              </a:rPr>
              <a:t>	</a:t>
            </a:r>
            <a:r>
              <a:rPr lang="en-IN" sz="2000" dirty="0" err="1">
                <a:latin typeface="Consolas" panose="020B0609020204030204" pitchFamily="49" charset="0"/>
              </a:rPr>
              <a:t>MinMax</a:t>
            </a:r>
            <a:r>
              <a:rPr lang="en-IN" sz="2000" dirty="0">
                <a:latin typeface="Consolas" panose="020B0609020204030204" pitchFamily="49" charset="0"/>
              </a:rPr>
              <a:t>(l, mid, max, min);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2000" dirty="0">
                <a:latin typeface="Consolas" panose="020B0609020204030204" pitchFamily="49" charset="0"/>
              </a:rPr>
              <a:t>	</a:t>
            </a:r>
            <a:r>
              <a:rPr lang="en-IN" sz="2000" dirty="0" err="1">
                <a:latin typeface="Consolas" panose="020B0609020204030204" pitchFamily="49" charset="0"/>
              </a:rPr>
              <a:t>MinMax</a:t>
            </a:r>
            <a:r>
              <a:rPr lang="en-IN" sz="2000" dirty="0">
                <a:latin typeface="Consolas" panose="020B0609020204030204" pitchFamily="49" charset="0"/>
              </a:rPr>
              <a:t>(mid+1, h, max1, min1);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2000" dirty="0">
                <a:latin typeface="Consolas" panose="020B0609020204030204" pitchFamily="49" charset="0"/>
              </a:rPr>
              <a:t>	if(a[max]&lt; a[max1])  then 			max=max1;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2000" dirty="0">
                <a:latin typeface="Consolas" panose="020B0609020204030204" pitchFamily="49" charset="0"/>
              </a:rPr>
              <a:t>	if (a[min]&gt;a[min1])then,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2000" dirty="0">
                <a:latin typeface="Consolas" panose="020B0609020204030204" pitchFamily="49" charset="0"/>
              </a:rPr>
              <a:t>		min = min1;                           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2000" dirty="0">
                <a:latin typeface="Consolas" panose="020B0609020204030204" pitchFamily="49" charset="0"/>
              </a:rPr>
              <a:t>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2000" dirty="0">
                <a:latin typeface="Consolas" panose="020B0609020204030204" pitchFamily="49" charset="0"/>
              </a:rPr>
              <a:t>}</a:t>
            </a:r>
            <a:endParaRPr lang="en-IN" sz="2400" dirty="0">
              <a:latin typeface="Consolas" panose="020B0609020204030204" pitchFamily="49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DE86603-4F86-4144-888F-DA020288F143}"/>
                  </a:ext>
                </a:extLst>
              </p14:cNvPr>
              <p14:cNvContentPartPr/>
              <p14:nvPr/>
            </p14:nvContentPartPr>
            <p14:xfrm>
              <a:off x="5352805" y="2536351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DE86603-4F86-4144-888F-DA020288F14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343805" y="2527351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021218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580EB-91AB-4B91-9965-B41236A2A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42021"/>
            <a:ext cx="7729728" cy="878856"/>
          </a:xfrm>
        </p:spPr>
        <p:txBody>
          <a:bodyPr/>
          <a:lstStyle/>
          <a:p>
            <a:r>
              <a:rPr lang="en-IN" dirty="0"/>
              <a:t>Finding minimum and maximum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754B7C-FBDD-403C-875F-0F3BD2D20AC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83457" y="1342104"/>
                <a:ext cx="11267769" cy="5269914"/>
              </a:xfrm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>
                <a:normAutofit/>
              </a:bodyPr>
              <a:lstStyle/>
              <a:p>
                <a:pPr marL="0" indent="0">
                  <a:buFont typeface="Arial" panose="020B0604020202020204" pitchFamily="34" charset="0"/>
                  <a:buNone/>
                </a:pPr>
                <a:endParaRPr lang="en-IN" sz="2400" b="1" u="sng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IN" sz="2400" b="1" u="sng" dirty="0"/>
                  <a:t>Time Complexity: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IN" sz="24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IN" sz="24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Recurrence relation :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b="0" i="1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IN" sz="2400" b="0" i="1" smtClean="0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400" b="0" i="1" smtClean="0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IN" sz="2400" b="0" i="1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IN" sz="2400" b="0" i="1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IN" sz="2400" b="0" i="1" smtClean="0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sz="2400" b="0" i="1" smtClean="0"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400" b="0" i="1" smtClean="0"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IN" sz="2400" b="0" i="1" smtClean="0"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IN" sz="2400" b="0" i="1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+2                          </m:t>
                      </m:r>
                      <m:r>
                        <a:rPr lang="en-IN" sz="2400" b="0" i="1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IN" sz="2400" b="0" i="1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&gt;2</m:t>
                      </m:r>
                    </m:oMath>
                  </m:oMathPara>
                </a14:m>
                <a:endParaRPr lang="en-IN" sz="2400" b="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b="0" i="1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           </m:t>
                      </m:r>
                      <m:r>
                        <a:rPr lang="en-IN" sz="2400" i="1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400" b="0" i="1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1                                             </m:t>
                      </m:r>
                      <m:r>
                        <a:rPr lang="en-IN" sz="2400" b="0" i="1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IN" sz="2400" b="0" i="1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IN" sz="24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754B7C-FBDD-403C-875F-0F3BD2D20AC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3457" y="1342104"/>
                <a:ext cx="11267769" cy="5269914"/>
              </a:xfrm>
              <a:blipFill>
                <a:blip r:embed="rId2"/>
                <a:stretch>
                  <a:fillRect l="-81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DE86603-4F86-4144-888F-DA020288F143}"/>
                  </a:ext>
                </a:extLst>
              </p14:cNvPr>
              <p14:cNvContentPartPr/>
              <p14:nvPr/>
            </p14:nvContentPartPr>
            <p14:xfrm>
              <a:off x="5352805" y="2536351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DE86603-4F86-4144-888F-DA020288F14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343805" y="2527351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101772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580EB-91AB-4B91-9965-B41236A2A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42021"/>
            <a:ext cx="7729728" cy="1188720"/>
          </a:xfrm>
        </p:spPr>
        <p:txBody>
          <a:bodyPr/>
          <a:lstStyle/>
          <a:p>
            <a:r>
              <a:rPr lang="en-IN" dirty="0"/>
              <a:t>Merge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754B7C-FBDD-403C-875F-0F3BD2D20A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7419" y="1592826"/>
            <a:ext cx="10530349" cy="5023153"/>
          </a:xfrm>
        </p:spPr>
        <p:txBody>
          <a:bodyPr>
            <a:normAutofit/>
          </a:bodyPr>
          <a:lstStyle/>
          <a:p>
            <a:r>
              <a:rPr lang="en-IN" sz="2400" dirty="0"/>
              <a:t>Simple and efficient algorithm for sorting a list of numbers</a:t>
            </a:r>
          </a:p>
          <a:p>
            <a:r>
              <a:rPr lang="en-IN" sz="2400" dirty="0"/>
              <a:t>Based on divide and Conquer paradigm</a:t>
            </a:r>
          </a:p>
          <a:p>
            <a:r>
              <a:rPr lang="en-IN" sz="2400" dirty="0"/>
              <a:t>Performed in three steps: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u="sng" dirty="0"/>
              <a:t>Divide:</a:t>
            </a:r>
          </a:p>
          <a:p>
            <a:pPr marL="742950" lvl="1" indent="-514350">
              <a:buFont typeface="+mj-lt"/>
              <a:buAutoNum type="romanLcPeriod"/>
            </a:pPr>
            <a:r>
              <a:rPr lang="en-IN" sz="2200" dirty="0"/>
              <a:t>List of n elements is divided into 2 sub-lists of n/2 elements</a:t>
            </a:r>
          </a:p>
          <a:p>
            <a:pPr marL="742950" lvl="1" indent="-514350">
              <a:buFont typeface="+mj-lt"/>
              <a:buAutoNum type="romanLcPeriod"/>
            </a:pPr>
            <a:r>
              <a:rPr lang="en-IN" sz="2200" dirty="0"/>
              <a:t>Computes middle of the array, so it takes constant time O(</a:t>
            </a:r>
            <a:r>
              <a:rPr lang="en-IN" sz="2200" dirty="0">
                <a:latin typeface="Abadi" panose="020B0604020104020204" pitchFamily="34" charset="0"/>
              </a:rPr>
              <a:t>1</a:t>
            </a:r>
            <a:r>
              <a:rPr lang="en-IN" sz="2200" dirty="0"/>
              <a:t>).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u="sng" dirty="0"/>
              <a:t>Conquer:</a:t>
            </a:r>
          </a:p>
          <a:p>
            <a:pPr marL="685800" lvl="1" indent="-457200">
              <a:buFont typeface="+mj-lt"/>
              <a:buAutoNum type="arabicPeriod"/>
            </a:pPr>
            <a:r>
              <a:rPr lang="en-IN" sz="2200" dirty="0"/>
              <a:t>Each half is sorted independently.</a:t>
            </a:r>
          </a:p>
          <a:p>
            <a:pPr marL="685800" lvl="1" indent="-457200">
              <a:buFont typeface="+mj-lt"/>
              <a:buAutoNum type="arabicPeriod"/>
            </a:pPr>
            <a:r>
              <a:rPr lang="en-IN" sz="2200" dirty="0"/>
              <a:t>Merge sort is recursively used to sort elements of smaller sub-lists.</a:t>
            </a:r>
          </a:p>
          <a:p>
            <a:pPr marL="685800" lvl="1" indent="-457200">
              <a:buFont typeface="+mj-lt"/>
              <a:buAutoNum type="arabicPeriod"/>
            </a:pPr>
            <a:r>
              <a:rPr lang="en-IN" sz="2200" dirty="0"/>
              <a:t>This step contributes T(n/2) + T(n/2) to running time.</a:t>
            </a:r>
          </a:p>
          <a:p>
            <a:pPr marL="228600" lvl="1" indent="0">
              <a:buNone/>
            </a:pP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37114234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580EB-91AB-4B91-9965-B41236A2A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42021"/>
            <a:ext cx="7729728" cy="1188720"/>
          </a:xfrm>
        </p:spPr>
        <p:txBody>
          <a:bodyPr/>
          <a:lstStyle/>
          <a:p>
            <a:r>
              <a:rPr lang="en-IN" dirty="0"/>
              <a:t>Merge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754B7C-FBDD-403C-875F-0F3BD2D20A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0155" y="1873045"/>
            <a:ext cx="10972799" cy="4742934"/>
          </a:xfrm>
        </p:spPr>
        <p:txBody>
          <a:bodyPr>
            <a:normAutofit/>
          </a:bodyPr>
          <a:lstStyle/>
          <a:p>
            <a:pPr marL="685800" lvl="1" indent="-457200">
              <a:buFont typeface="+mj-lt"/>
              <a:buAutoNum type="arabicPeriod" startAt="3"/>
            </a:pPr>
            <a:r>
              <a:rPr lang="en-IN" sz="2400" dirty="0"/>
              <a:t>Combine:</a:t>
            </a:r>
          </a:p>
          <a:p>
            <a:pPr marL="971550" lvl="2" indent="-514350">
              <a:buFont typeface="+mj-lt"/>
              <a:buAutoNum type="romanLcPeriod"/>
            </a:pPr>
            <a:r>
              <a:rPr lang="en-IN" sz="2400" dirty="0"/>
              <a:t>Two sorted halves are merged to obtain a sorted sequence</a:t>
            </a:r>
          </a:p>
          <a:p>
            <a:pPr marL="971550" lvl="2" indent="-514350">
              <a:buFont typeface="+mj-lt"/>
              <a:buAutoNum type="romanLcPeriod"/>
            </a:pPr>
            <a:r>
              <a:rPr lang="en-IN" sz="2400" dirty="0"/>
              <a:t>This requires merging of n elements into </a:t>
            </a:r>
            <a:r>
              <a:rPr lang="en-IN" sz="2400" dirty="0">
                <a:latin typeface="Abadi" panose="020B0604020104020204" pitchFamily="34" charset="0"/>
              </a:rPr>
              <a:t>1</a:t>
            </a:r>
            <a:r>
              <a:rPr lang="en-IN" sz="2400" dirty="0"/>
              <a:t> list.</a:t>
            </a:r>
          </a:p>
          <a:p>
            <a:pPr marL="971550" lvl="2" indent="-514350">
              <a:buFont typeface="+mj-lt"/>
              <a:buAutoNum type="romanLcPeriod"/>
            </a:pPr>
            <a:r>
              <a:rPr lang="en-IN" sz="2400" dirty="0"/>
              <a:t>It contributes O(n) to running time.</a:t>
            </a:r>
          </a:p>
          <a:p>
            <a:pPr marL="228600" lvl="1" indent="0">
              <a:buNone/>
            </a:pPr>
            <a:endParaRPr lang="en-IN" sz="2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79C26B-5B76-484F-8D4A-D3947E96A568}"/>
              </a:ext>
            </a:extLst>
          </p:cNvPr>
          <p:cNvSpPr txBox="1"/>
          <p:nvPr/>
        </p:nvSpPr>
        <p:spPr>
          <a:xfrm>
            <a:off x="1076632" y="5741473"/>
            <a:ext cx="86187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FF0000"/>
                </a:solidFill>
              </a:rPr>
              <a:t>NOTE: </a:t>
            </a:r>
            <a:r>
              <a:rPr lang="en-IN" sz="2000" dirty="0"/>
              <a:t>The Key operation of merge sort is </a:t>
            </a:r>
            <a:r>
              <a:rPr lang="en-IN" sz="2000" dirty="0">
                <a:solidFill>
                  <a:srgbClr val="FF0000"/>
                </a:solidFill>
              </a:rPr>
              <a:t>Merging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54785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580EB-91AB-4B91-9965-B41236A2A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42021"/>
            <a:ext cx="7729728" cy="1188720"/>
          </a:xfrm>
        </p:spPr>
        <p:txBody>
          <a:bodyPr/>
          <a:lstStyle/>
          <a:p>
            <a:r>
              <a:rPr lang="en-IN" dirty="0"/>
              <a:t>Merge Sort Algorithm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C0ACA9-A066-4668-AE5E-D83C9884CF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1884" y="1769807"/>
            <a:ext cx="10456606" cy="4498257"/>
          </a:xfrm>
          <a:ln>
            <a:solidFill>
              <a:schemeClr val="accent1"/>
            </a:solidFill>
          </a:ln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000" dirty="0" err="1">
                <a:latin typeface="Consolas" panose="020B0609020204030204" pitchFamily="49" charset="0"/>
              </a:rPr>
              <a:t>mergeSort</a:t>
            </a:r>
            <a:r>
              <a:rPr lang="en-IN" sz="2000" dirty="0">
                <a:latin typeface="Consolas" panose="020B0609020204030204" pitchFamily="49" charset="0"/>
              </a:rPr>
              <a:t>(arr[ ],low, high)  </a:t>
            </a:r>
          </a:p>
          <a:p>
            <a:pPr marL="0" indent="0">
              <a:buNone/>
            </a:pPr>
            <a:r>
              <a:rPr lang="en-IN" sz="2000" dirty="0">
                <a:latin typeface="Consolas" panose="020B0609020204030204" pitchFamily="49" charset="0"/>
              </a:rPr>
              <a:t>//</a:t>
            </a:r>
            <a:r>
              <a:rPr lang="en-IN" sz="2000" dirty="0">
                <a:solidFill>
                  <a:srgbClr val="FF0000"/>
                </a:solidFill>
                <a:latin typeface="Consolas" panose="020B0609020204030204" pitchFamily="49" charset="0"/>
              </a:rPr>
              <a:t>arr is array, low is left sub-list, high is right sub-list</a:t>
            </a:r>
          </a:p>
          <a:p>
            <a:pPr marL="0" indent="0">
              <a:buNone/>
            </a:pPr>
            <a:r>
              <a:rPr lang="en-IN" sz="2000" dirty="0"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IN" sz="2000" dirty="0">
                <a:latin typeface="Consolas" panose="020B0609020204030204" pitchFamily="49" charset="0"/>
              </a:rPr>
              <a:t>   if(low&lt;high)</a:t>
            </a:r>
          </a:p>
          <a:p>
            <a:pPr marL="0" indent="0">
              <a:buNone/>
            </a:pPr>
            <a:r>
              <a:rPr lang="en-IN" sz="2000" dirty="0">
                <a:latin typeface="Consolas" panose="020B0609020204030204" pitchFamily="49" charset="0"/>
              </a:rPr>
              <a:t>   {</a:t>
            </a:r>
          </a:p>
          <a:p>
            <a:pPr marL="0" indent="0">
              <a:buNone/>
            </a:pPr>
            <a:r>
              <a:rPr lang="en-IN" sz="2000" dirty="0">
                <a:latin typeface="Consolas" panose="020B0609020204030204" pitchFamily="49" charset="0"/>
              </a:rPr>
              <a:t>      mid = (</a:t>
            </a:r>
            <a:r>
              <a:rPr lang="en-IN" sz="2000" dirty="0" err="1">
                <a:latin typeface="Consolas" panose="020B0609020204030204" pitchFamily="49" charset="0"/>
              </a:rPr>
              <a:t>low+high</a:t>
            </a:r>
            <a:r>
              <a:rPr lang="en-IN" sz="2000" dirty="0">
                <a:latin typeface="Consolas" panose="020B0609020204030204" pitchFamily="49" charset="0"/>
              </a:rPr>
              <a:t>)/2;</a:t>
            </a:r>
          </a:p>
          <a:p>
            <a:pPr marL="0" indent="0">
              <a:buNone/>
            </a:pPr>
            <a:r>
              <a:rPr lang="en-IN" sz="2000" dirty="0">
                <a:latin typeface="Consolas" panose="020B0609020204030204" pitchFamily="49" charset="0"/>
              </a:rPr>
              <a:t>      </a:t>
            </a:r>
            <a:r>
              <a:rPr lang="en-IN" sz="2000" dirty="0" err="1">
                <a:latin typeface="Consolas" panose="020B0609020204030204" pitchFamily="49" charset="0"/>
              </a:rPr>
              <a:t>mergeSort</a:t>
            </a:r>
            <a:r>
              <a:rPr lang="en-IN" sz="2000" dirty="0">
                <a:latin typeface="Consolas" panose="020B0609020204030204" pitchFamily="49" charset="0"/>
              </a:rPr>
              <a:t>(arr, low, mid);</a:t>
            </a:r>
          </a:p>
          <a:p>
            <a:pPr marL="0" indent="0">
              <a:buNone/>
            </a:pPr>
            <a:r>
              <a:rPr lang="en-IN" sz="2000" dirty="0">
                <a:latin typeface="Consolas" panose="020B0609020204030204" pitchFamily="49" charset="0"/>
              </a:rPr>
              <a:t>      </a:t>
            </a:r>
            <a:r>
              <a:rPr lang="en-IN" sz="2000" dirty="0" err="1">
                <a:latin typeface="Consolas" panose="020B0609020204030204" pitchFamily="49" charset="0"/>
              </a:rPr>
              <a:t>mergeSort</a:t>
            </a:r>
            <a:r>
              <a:rPr lang="en-IN" sz="2000" dirty="0">
                <a:latin typeface="Consolas" panose="020B0609020204030204" pitchFamily="49" charset="0"/>
              </a:rPr>
              <a:t>(arr,mid+1,high);</a:t>
            </a:r>
          </a:p>
          <a:p>
            <a:pPr marL="0" indent="0">
              <a:buNone/>
            </a:pPr>
            <a:r>
              <a:rPr lang="en-IN" sz="2000" dirty="0">
                <a:latin typeface="Consolas" panose="020B0609020204030204" pitchFamily="49" charset="0"/>
              </a:rPr>
              <a:t>      merge(arr, low, mid, high);</a:t>
            </a:r>
          </a:p>
          <a:p>
            <a:pPr marL="0" indent="0">
              <a:buNone/>
            </a:pPr>
            <a:r>
              <a:rPr lang="en-IN" sz="2000" dirty="0">
                <a:latin typeface="Consolas" panose="020B0609020204030204" pitchFamily="49" charset="0"/>
              </a:rPr>
              <a:t>   }</a:t>
            </a:r>
          </a:p>
          <a:p>
            <a:pPr marL="0" indent="0">
              <a:buNone/>
            </a:pPr>
            <a:r>
              <a:rPr lang="en-IN" sz="2000" dirty="0">
                <a:latin typeface="Consolas" panose="020B0609020204030204" pitchFamily="49" charset="0"/>
              </a:rPr>
              <a:t>}</a:t>
            </a:r>
            <a:endParaRPr lang="en-IN" sz="8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6182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580EB-91AB-4B91-9965-B41236A2A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42021"/>
            <a:ext cx="7729728" cy="1188720"/>
          </a:xfrm>
        </p:spPr>
        <p:txBody>
          <a:bodyPr/>
          <a:lstStyle/>
          <a:p>
            <a:r>
              <a:rPr lang="en-IN" dirty="0"/>
              <a:t>Merge Algorithm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68F385C-2F95-416E-92C0-2F8EE24AF2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323" y="1814665"/>
            <a:ext cx="5575677" cy="4801314"/>
          </a:xfrm>
          <a:ln>
            <a:solidFill>
              <a:schemeClr val="accent1"/>
            </a:solidFill>
          </a:ln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IN" sz="11200" dirty="0"/>
              <a:t>void merge(int arr[ ], int low, int mid, int high) {</a:t>
            </a:r>
          </a:p>
          <a:p>
            <a:pPr marL="0" indent="0">
              <a:buNone/>
            </a:pPr>
            <a:r>
              <a:rPr lang="en-IN" sz="11200" dirty="0"/>
              <a:t>  int </a:t>
            </a:r>
            <a:r>
              <a:rPr lang="en-IN" sz="11200" dirty="0" err="1"/>
              <a:t>i</a:t>
            </a:r>
            <a:r>
              <a:rPr lang="en-IN" sz="11200" dirty="0"/>
              <a:t> = </a:t>
            </a:r>
            <a:r>
              <a:rPr lang="en-IN" sz="11200" dirty="0">
                <a:latin typeface="Abadi" panose="020B0604020104020204" pitchFamily="34" charset="0"/>
              </a:rPr>
              <a:t>low</a:t>
            </a:r>
            <a:r>
              <a:rPr lang="en-IN" sz="11200" dirty="0"/>
              <a:t>;</a:t>
            </a:r>
          </a:p>
          <a:p>
            <a:pPr marL="0" indent="0">
              <a:buNone/>
            </a:pPr>
            <a:r>
              <a:rPr lang="en-IN" sz="11200" dirty="0"/>
              <a:t>  int j = mid + </a:t>
            </a:r>
            <a:r>
              <a:rPr lang="en-IN" sz="11200" dirty="0">
                <a:latin typeface="Abadi" panose="020B0604020104020204" pitchFamily="34" charset="0"/>
              </a:rPr>
              <a:t>1</a:t>
            </a:r>
            <a:r>
              <a:rPr lang="en-IN" sz="11200" dirty="0"/>
              <a:t>;</a:t>
            </a:r>
          </a:p>
          <a:p>
            <a:pPr marL="0" indent="0">
              <a:buNone/>
            </a:pPr>
            <a:r>
              <a:rPr lang="en-IN" sz="11200" dirty="0"/>
              <a:t>  int k = </a:t>
            </a:r>
            <a:r>
              <a:rPr lang="en-IN" sz="11200" dirty="0">
                <a:latin typeface="Abadi" panose="020B0604020104020204" pitchFamily="34" charset="0"/>
              </a:rPr>
              <a:t>low</a:t>
            </a:r>
            <a:r>
              <a:rPr lang="en-IN" sz="11200" dirty="0"/>
              <a:t>;</a:t>
            </a:r>
          </a:p>
          <a:p>
            <a:pPr marL="0" indent="0">
              <a:buNone/>
            </a:pPr>
            <a:endParaRPr lang="en-IN" sz="11200" dirty="0"/>
          </a:p>
          <a:p>
            <a:pPr marL="0" indent="0">
              <a:buNone/>
            </a:pPr>
            <a:r>
              <a:rPr lang="en-IN" sz="11200" dirty="0">
                <a:solidFill>
                  <a:srgbClr val="FF0000"/>
                </a:solidFill>
              </a:rPr>
              <a:t>  /* create temp array */</a:t>
            </a:r>
          </a:p>
          <a:p>
            <a:pPr marL="0" indent="0">
              <a:buNone/>
            </a:pPr>
            <a:r>
              <a:rPr lang="en-IN" sz="11200" dirty="0"/>
              <a:t>  int temp[5];</a:t>
            </a:r>
          </a:p>
          <a:p>
            <a:pPr marL="0" indent="0">
              <a:buNone/>
            </a:pPr>
            <a:endParaRPr lang="en-IN" sz="11200" dirty="0"/>
          </a:p>
          <a:p>
            <a:pPr marL="0" indent="0">
              <a:buNone/>
            </a:pPr>
            <a:r>
              <a:rPr lang="en-IN" sz="11200" dirty="0"/>
              <a:t>  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825B56-1FF8-463E-A8D7-22412E22E666}"/>
              </a:ext>
            </a:extLst>
          </p:cNvPr>
          <p:cNvSpPr txBox="1"/>
          <p:nvPr/>
        </p:nvSpPr>
        <p:spPr>
          <a:xfrm>
            <a:off x="6651523" y="1814665"/>
            <a:ext cx="5020154" cy="480131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IN" sz="2400" dirty="0"/>
              <a:t>while (</a:t>
            </a:r>
            <a:r>
              <a:rPr lang="en-IN" sz="2400" dirty="0" err="1"/>
              <a:t>i</a:t>
            </a:r>
            <a:r>
              <a:rPr lang="en-IN" sz="2400" dirty="0"/>
              <a:t> &lt;= mid &amp;&amp; j &lt;= high) {</a:t>
            </a:r>
          </a:p>
          <a:p>
            <a:r>
              <a:rPr lang="en-IN" sz="2400" dirty="0"/>
              <a:t>    if (arr[</a:t>
            </a:r>
            <a:r>
              <a:rPr lang="en-IN" sz="2400" dirty="0" err="1"/>
              <a:t>i</a:t>
            </a:r>
            <a:r>
              <a:rPr lang="en-IN" sz="2400" dirty="0"/>
              <a:t>] &lt;= arr[j]) {</a:t>
            </a:r>
          </a:p>
          <a:p>
            <a:r>
              <a:rPr lang="en-IN" sz="2400" dirty="0"/>
              <a:t>      temp[k] = arr[</a:t>
            </a:r>
            <a:r>
              <a:rPr lang="en-IN" sz="2400" dirty="0" err="1"/>
              <a:t>i</a:t>
            </a:r>
            <a:r>
              <a:rPr lang="en-IN" sz="2400" dirty="0"/>
              <a:t>];</a:t>
            </a:r>
          </a:p>
          <a:p>
            <a:r>
              <a:rPr lang="en-IN" sz="2400" dirty="0"/>
              <a:t>      </a:t>
            </a:r>
            <a:r>
              <a:rPr lang="en-IN" sz="2400" dirty="0" err="1"/>
              <a:t>i</a:t>
            </a:r>
            <a:r>
              <a:rPr lang="en-IN" sz="2400" dirty="0"/>
              <a:t>++;</a:t>
            </a:r>
          </a:p>
          <a:p>
            <a:r>
              <a:rPr lang="en-IN" sz="2400" dirty="0"/>
              <a:t>      k++;</a:t>
            </a:r>
          </a:p>
          <a:p>
            <a:r>
              <a:rPr lang="en-IN" sz="2400" dirty="0"/>
              <a:t>    } </a:t>
            </a:r>
          </a:p>
          <a:p>
            <a:r>
              <a:rPr lang="en-IN" sz="2400" dirty="0"/>
              <a:t>else {</a:t>
            </a:r>
          </a:p>
          <a:p>
            <a:r>
              <a:rPr lang="en-IN" sz="2400" dirty="0"/>
              <a:t>      temp[k] = arr[j];</a:t>
            </a:r>
          </a:p>
          <a:p>
            <a:r>
              <a:rPr lang="en-IN" sz="2400" dirty="0"/>
              <a:t>      </a:t>
            </a:r>
            <a:r>
              <a:rPr lang="en-IN" sz="2400" dirty="0" err="1"/>
              <a:t>j++</a:t>
            </a:r>
            <a:r>
              <a:rPr lang="en-IN" sz="2400" dirty="0"/>
              <a:t>;</a:t>
            </a:r>
          </a:p>
          <a:p>
            <a:r>
              <a:rPr lang="en-IN" sz="2400" dirty="0"/>
              <a:t>      k++;</a:t>
            </a:r>
          </a:p>
          <a:p>
            <a:r>
              <a:rPr lang="en-IN" sz="2400" dirty="0"/>
              <a:t>    }</a:t>
            </a:r>
          </a:p>
          <a:p>
            <a:r>
              <a:rPr lang="en-IN" sz="2400" dirty="0"/>
              <a:t>  }</a:t>
            </a:r>
            <a:endParaRPr lang="en-IN" dirty="0"/>
          </a:p>
          <a:p>
            <a:r>
              <a:rPr lang="en-IN" dirty="0"/>
              <a:t>  </a:t>
            </a:r>
          </a:p>
        </p:txBody>
      </p:sp>
      <p:cxnSp>
        <p:nvCxnSpPr>
          <p:cNvPr id="9" name="Connector: Curved 8">
            <a:extLst>
              <a:ext uri="{FF2B5EF4-FFF2-40B4-BE49-F238E27FC236}">
                <a16:creationId xmlns:a16="http://schemas.microsoft.com/office/drawing/2014/main" id="{B8032D24-0F97-4A13-A4C6-67B06D100B32}"/>
              </a:ext>
            </a:extLst>
          </p:cNvPr>
          <p:cNvCxnSpPr>
            <a:cxnSpLocks/>
          </p:cNvCxnSpPr>
          <p:nvPr/>
        </p:nvCxnSpPr>
        <p:spPr>
          <a:xfrm>
            <a:off x="6096000" y="4201544"/>
            <a:ext cx="555523" cy="12700"/>
          </a:xfrm>
          <a:prstGeom prst="curvedConnector3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7B2B8E5-9DC5-415B-B9F5-22453D94516E}"/>
              </a:ext>
            </a:extLst>
          </p:cNvPr>
          <p:cNvSpPr txBox="1"/>
          <p:nvPr/>
        </p:nvSpPr>
        <p:spPr>
          <a:xfrm>
            <a:off x="4984955" y="5766619"/>
            <a:ext cx="5161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solidFill>
                  <a:schemeClr val="tx2">
                    <a:lumMod val="60000"/>
                    <a:lumOff val="40000"/>
                  </a:schemeClr>
                </a:solidFill>
                <a:latin typeface="Abadi" panose="020B0604020104020204" pitchFamily="34" charset="0"/>
              </a:rPr>
              <a:t>1</a:t>
            </a:r>
            <a:endParaRPr lang="en-IN" dirty="0">
              <a:solidFill>
                <a:schemeClr val="tx2">
                  <a:lumMod val="60000"/>
                  <a:lumOff val="40000"/>
                </a:schemeClr>
              </a:solidFill>
              <a:latin typeface="Abadi" panose="020B0604020104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DD218E-1618-43E8-BFBA-7E34CD794006}"/>
              </a:ext>
            </a:extLst>
          </p:cNvPr>
          <p:cNvSpPr txBox="1"/>
          <p:nvPr/>
        </p:nvSpPr>
        <p:spPr>
          <a:xfrm>
            <a:off x="10771239" y="5766619"/>
            <a:ext cx="5161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solidFill>
                  <a:schemeClr val="tx2">
                    <a:lumMod val="60000"/>
                    <a:lumOff val="40000"/>
                  </a:schemeClr>
                </a:solidFill>
                <a:latin typeface="Abadi" panose="020B0604020104020204" pitchFamily="34" charset="0"/>
              </a:rPr>
              <a:t>2</a:t>
            </a:r>
            <a:endParaRPr lang="en-IN" dirty="0">
              <a:solidFill>
                <a:schemeClr val="tx2">
                  <a:lumMod val="60000"/>
                  <a:lumOff val="40000"/>
                </a:schemeClr>
              </a:solidFill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78262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580EB-91AB-4B91-9965-B41236A2A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42021"/>
            <a:ext cx="7729728" cy="1188720"/>
          </a:xfrm>
        </p:spPr>
        <p:txBody>
          <a:bodyPr/>
          <a:lstStyle/>
          <a:p>
            <a:r>
              <a:rPr lang="en-IN" dirty="0"/>
              <a:t>Merge Algorithm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68F385C-2F95-416E-92C0-2F8EE24AF2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323" y="1723645"/>
            <a:ext cx="5497019" cy="3453040"/>
          </a:xfrm>
          <a:ln>
            <a:solidFill>
              <a:schemeClr val="accent1"/>
            </a:solidFill>
          </a:ln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IN" sz="9600" dirty="0"/>
              <a:t>/* </a:t>
            </a:r>
            <a:r>
              <a:rPr lang="en-IN" sz="9600" dirty="0">
                <a:solidFill>
                  <a:srgbClr val="FF0000"/>
                </a:solidFill>
              </a:rPr>
              <a:t>Copy the remaining elements of first half, if there are any </a:t>
            </a:r>
            <a:r>
              <a:rPr lang="en-IN" sz="9600" dirty="0"/>
              <a:t>*/</a:t>
            </a:r>
          </a:p>
          <a:p>
            <a:pPr marL="0" indent="0">
              <a:buNone/>
            </a:pPr>
            <a:r>
              <a:rPr lang="en-IN" sz="9600" dirty="0"/>
              <a:t>  while (</a:t>
            </a:r>
            <a:r>
              <a:rPr lang="en-IN" sz="9600" dirty="0" err="1"/>
              <a:t>i</a:t>
            </a:r>
            <a:r>
              <a:rPr lang="en-IN" sz="9600" dirty="0"/>
              <a:t> &lt;= mid) {</a:t>
            </a:r>
          </a:p>
          <a:p>
            <a:pPr marL="0" indent="0">
              <a:buNone/>
            </a:pPr>
            <a:r>
              <a:rPr lang="en-IN" sz="9600" dirty="0"/>
              <a:t>    temp[k] = arr[</a:t>
            </a:r>
            <a:r>
              <a:rPr lang="en-IN" sz="9600" dirty="0" err="1"/>
              <a:t>i</a:t>
            </a:r>
            <a:r>
              <a:rPr lang="en-IN" sz="9600" dirty="0"/>
              <a:t>];</a:t>
            </a:r>
          </a:p>
          <a:p>
            <a:pPr marL="0" indent="0">
              <a:buNone/>
            </a:pPr>
            <a:r>
              <a:rPr lang="en-IN" sz="9600" dirty="0"/>
              <a:t>    </a:t>
            </a:r>
            <a:r>
              <a:rPr lang="en-IN" sz="9600" dirty="0" err="1"/>
              <a:t>i</a:t>
            </a:r>
            <a:r>
              <a:rPr lang="en-IN" sz="9600" dirty="0"/>
              <a:t>++;</a:t>
            </a:r>
          </a:p>
          <a:p>
            <a:pPr marL="0" indent="0">
              <a:buNone/>
            </a:pPr>
            <a:r>
              <a:rPr lang="en-IN" sz="9600" dirty="0"/>
              <a:t>    k++;</a:t>
            </a:r>
          </a:p>
          <a:p>
            <a:pPr marL="0" indent="0">
              <a:buNone/>
            </a:pPr>
            <a:r>
              <a:rPr lang="en-IN" sz="9600" dirty="0"/>
              <a:t>  }</a:t>
            </a:r>
          </a:p>
          <a:p>
            <a:endParaRPr lang="en-IN" sz="9600" dirty="0"/>
          </a:p>
          <a:p>
            <a:endParaRPr lang="en-IN" dirty="0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2021CED3-380B-4F08-B4C0-3FDA82E8EA94}"/>
              </a:ext>
            </a:extLst>
          </p:cNvPr>
          <p:cNvSpPr txBox="1">
            <a:spLocks/>
          </p:cNvSpPr>
          <p:nvPr/>
        </p:nvSpPr>
        <p:spPr>
          <a:xfrm>
            <a:off x="6430297" y="1723643"/>
            <a:ext cx="5497019" cy="345304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>
            <a:normAutofit fontScale="32500" lnSpcReduction="20000"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9600" dirty="0"/>
              <a:t>/* </a:t>
            </a:r>
            <a:r>
              <a:rPr lang="en-IN" sz="9600" dirty="0">
                <a:solidFill>
                  <a:srgbClr val="FF0000"/>
                </a:solidFill>
              </a:rPr>
              <a:t>Copy the remaining elements of 2nd half, if there are any </a:t>
            </a:r>
            <a:r>
              <a:rPr lang="en-IN" sz="9600" dirty="0"/>
              <a:t>*/</a:t>
            </a:r>
          </a:p>
          <a:p>
            <a:pPr marL="0" indent="0">
              <a:buNone/>
            </a:pPr>
            <a:r>
              <a:rPr lang="en-IN" sz="9600" dirty="0"/>
              <a:t>  while (j &lt;= high) {</a:t>
            </a:r>
          </a:p>
          <a:p>
            <a:pPr marL="0" indent="0">
              <a:buNone/>
            </a:pPr>
            <a:r>
              <a:rPr lang="en-IN" sz="9600" dirty="0"/>
              <a:t>    temp[k] = arr[j];</a:t>
            </a:r>
          </a:p>
          <a:p>
            <a:pPr marL="0" indent="0">
              <a:buNone/>
            </a:pPr>
            <a:r>
              <a:rPr lang="en-IN" sz="9600" dirty="0"/>
              <a:t>    </a:t>
            </a:r>
            <a:r>
              <a:rPr lang="en-IN" sz="9600" dirty="0" err="1"/>
              <a:t>j++</a:t>
            </a:r>
            <a:r>
              <a:rPr lang="en-IN" sz="9600" dirty="0"/>
              <a:t>;</a:t>
            </a:r>
          </a:p>
          <a:p>
            <a:pPr marL="0" indent="0">
              <a:buNone/>
            </a:pPr>
            <a:r>
              <a:rPr lang="en-IN" sz="9600" dirty="0"/>
              <a:t>    k++;</a:t>
            </a:r>
          </a:p>
          <a:p>
            <a:pPr marL="0" indent="0">
              <a:buNone/>
            </a:pPr>
            <a:r>
              <a:rPr lang="en-IN" sz="9600" dirty="0"/>
              <a:t>  }</a:t>
            </a:r>
          </a:p>
          <a:p>
            <a:endParaRPr lang="en-IN" sz="9600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E454F6-F3F5-4EAF-8B48-7C81CAA8B0DA}"/>
              </a:ext>
            </a:extLst>
          </p:cNvPr>
          <p:cNvSpPr txBox="1"/>
          <p:nvPr/>
        </p:nvSpPr>
        <p:spPr>
          <a:xfrm>
            <a:off x="6430297" y="5176684"/>
            <a:ext cx="5497019" cy="147732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/* </a:t>
            </a:r>
            <a:r>
              <a:rPr lang="en-US" dirty="0">
                <a:solidFill>
                  <a:srgbClr val="FF0000"/>
                </a:solidFill>
              </a:rPr>
              <a:t>Copy the temp array to original array </a:t>
            </a:r>
            <a:r>
              <a:rPr lang="en-US" dirty="0"/>
              <a:t>*/</a:t>
            </a:r>
          </a:p>
          <a:p>
            <a:r>
              <a:rPr lang="en-US" dirty="0"/>
              <a:t>  for (int k = low; k &lt;= high; k++) {</a:t>
            </a:r>
          </a:p>
          <a:p>
            <a:r>
              <a:rPr lang="en-US" dirty="0"/>
              <a:t>    </a:t>
            </a:r>
            <a:r>
              <a:rPr lang="en-US" dirty="0" err="1"/>
              <a:t>arr</a:t>
            </a:r>
            <a:r>
              <a:rPr lang="en-US" dirty="0"/>
              <a:t>[k] = temp[k];</a:t>
            </a:r>
          </a:p>
          <a:p>
            <a:r>
              <a:rPr lang="en-US" dirty="0"/>
              <a:t>  }</a:t>
            </a:r>
          </a:p>
          <a:p>
            <a:r>
              <a:rPr lang="en-US" dirty="0"/>
              <a:t>}</a:t>
            </a:r>
            <a:endParaRPr lang="en-IN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A759CD5-34E0-47E8-8270-5816EB0EFB8C}"/>
              </a:ext>
            </a:extLst>
          </p:cNvPr>
          <p:cNvCxnSpPr>
            <a:stCxn id="5" idx="3"/>
            <a:endCxn id="6" idx="1"/>
          </p:cNvCxnSpPr>
          <p:nvPr/>
        </p:nvCxnSpPr>
        <p:spPr>
          <a:xfrm flipV="1">
            <a:off x="6017342" y="3450164"/>
            <a:ext cx="412955" cy="1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3D61DB4-C0EC-48F9-940E-F3962F65BCB4}"/>
              </a:ext>
            </a:extLst>
          </p:cNvPr>
          <p:cNvSpPr txBox="1"/>
          <p:nvPr/>
        </p:nvSpPr>
        <p:spPr>
          <a:xfrm>
            <a:off x="5161935" y="4188541"/>
            <a:ext cx="5161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solidFill>
                  <a:schemeClr val="tx2">
                    <a:lumMod val="60000"/>
                    <a:lumOff val="40000"/>
                  </a:schemeClr>
                </a:solidFill>
                <a:latin typeface="Abadi" panose="020B0604020104020204" pitchFamily="34" charset="0"/>
              </a:rPr>
              <a:t>3</a:t>
            </a:r>
            <a:endParaRPr lang="en-IN" dirty="0">
              <a:solidFill>
                <a:schemeClr val="tx2">
                  <a:lumMod val="60000"/>
                  <a:lumOff val="40000"/>
                </a:schemeClr>
              </a:solidFill>
              <a:latin typeface="Abadi" panose="020B0604020104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F3938F1-0457-4C6C-A56E-5A36F4073299}"/>
              </a:ext>
            </a:extLst>
          </p:cNvPr>
          <p:cNvSpPr txBox="1"/>
          <p:nvPr/>
        </p:nvSpPr>
        <p:spPr>
          <a:xfrm>
            <a:off x="11155484" y="4321277"/>
            <a:ext cx="5161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solidFill>
                  <a:schemeClr val="tx2">
                    <a:lumMod val="60000"/>
                    <a:lumOff val="40000"/>
                  </a:schemeClr>
                </a:solidFill>
                <a:latin typeface="Abadi" panose="020B0604020104020204" pitchFamily="34" charset="0"/>
              </a:rPr>
              <a:t>4</a:t>
            </a:r>
            <a:endParaRPr lang="en-IN" dirty="0">
              <a:solidFill>
                <a:schemeClr val="tx2">
                  <a:lumMod val="60000"/>
                  <a:lumOff val="40000"/>
                </a:schemeClr>
              </a:solidFill>
              <a:latin typeface="Abadi" panose="020B0604020104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3614350-B3E9-4185-8EFE-762E094D1E1F}"/>
              </a:ext>
            </a:extLst>
          </p:cNvPr>
          <p:cNvSpPr txBox="1"/>
          <p:nvPr/>
        </p:nvSpPr>
        <p:spPr>
          <a:xfrm>
            <a:off x="11155483" y="5915348"/>
            <a:ext cx="5161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solidFill>
                  <a:schemeClr val="tx2">
                    <a:lumMod val="60000"/>
                    <a:lumOff val="40000"/>
                  </a:schemeClr>
                </a:solidFill>
                <a:latin typeface="Abadi" panose="020B0604020104020204" pitchFamily="34" charset="0"/>
              </a:rPr>
              <a:t>5</a:t>
            </a:r>
            <a:endParaRPr lang="en-IN" dirty="0">
              <a:solidFill>
                <a:schemeClr val="tx2">
                  <a:lumMod val="60000"/>
                  <a:lumOff val="40000"/>
                </a:schemeClr>
              </a:solidFill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31104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580EB-91AB-4B91-9965-B41236A2A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42021"/>
            <a:ext cx="7729728" cy="1188720"/>
          </a:xfrm>
        </p:spPr>
        <p:txBody>
          <a:bodyPr/>
          <a:lstStyle/>
          <a:p>
            <a:r>
              <a:rPr lang="en-IN" dirty="0"/>
              <a:t>Merge Sort Example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68F385C-2F95-416E-92C0-2F8EE24AF2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323" y="1723645"/>
            <a:ext cx="10983419" cy="4195374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4000" dirty="0"/>
              <a:t>Example:</a:t>
            </a:r>
          </a:p>
          <a:p>
            <a:pPr marL="0" indent="0">
              <a:buNone/>
            </a:pPr>
            <a:endParaRPr lang="en-IN" sz="9600" dirty="0"/>
          </a:p>
          <a:p>
            <a:pPr marL="0" indent="0">
              <a:buNone/>
            </a:pPr>
            <a:endParaRPr lang="en-IN" sz="9600" dirty="0"/>
          </a:p>
          <a:p>
            <a:endParaRPr lang="en-IN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B6AAB01C-CDA7-85CD-C56A-C9B35CFE98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7325269"/>
              </p:ext>
            </p:extLst>
          </p:nvPr>
        </p:nvGraphicFramePr>
        <p:xfrm>
          <a:off x="2032000" y="2656620"/>
          <a:ext cx="8128000" cy="107963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371161296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60861548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36915986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9840936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16420597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7041192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955474746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965051448"/>
                    </a:ext>
                  </a:extLst>
                </a:gridCol>
              </a:tblGrid>
              <a:tr h="1079637">
                <a:tc>
                  <a:txBody>
                    <a:bodyPr/>
                    <a:lstStyle/>
                    <a:p>
                      <a:pPr algn="ctr"/>
                      <a:r>
                        <a:rPr lang="en-IN" sz="3600" dirty="0"/>
                        <a:t>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600" dirty="0"/>
                        <a:t>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600" dirty="0"/>
                        <a:t>93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600" dirty="0"/>
                        <a:t>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600" dirty="0"/>
                        <a:t>77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600" dirty="0"/>
                        <a:t>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600" dirty="0"/>
                        <a:t>44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600" dirty="0"/>
                        <a:t>55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676852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0328536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640</TotalTime>
  <Words>1388</Words>
  <Application>Microsoft Macintosh PowerPoint</Application>
  <PresentationFormat>Widescreen</PresentationFormat>
  <Paragraphs>214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Abadi</vt:lpstr>
      <vt:lpstr>Arial</vt:lpstr>
      <vt:lpstr>Cambria Math</vt:lpstr>
      <vt:lpstr>Consolas</vt:lpstr>
      <vt:lpstr>Gill Sans MT</vt:lpstr>
      <vt:lpstr>Parcel</vt:lpstr>
      <vt:lpstr>Divide and Conquer</vt:lpstr>
      <vt:lpstr>Contents</vt:lpstr>
      <vt:lpstr>Introduction</vt:lpstr>
      <vt:lpstr>Introduction</vt:lpstr>
      <vt:lpstr>Binary Search</vt:lpstr>
      <vt:lpstr>Binary Search</vt:lpstr>
      <vt:lpstr>Finding minimum and maximum</vt:lpstr>
      <vt:lpstr>Finding minimum and maximum</vt:lpstr>
      <vt:lpstr>Finding minimum and maximum</vt:lpstr>
      <vt:lpstr>Merge Sort</vt:lpstr>
      <vt:lpstr>Merge Sort</vt:lpstr>
      <vt:lpstr>Merge Sort Algorithm</vt:lpstr>
      <vt:lpstr>Merge Algorithm</vt:lpstr>
      <vt:lpstr>Merge Algorithm</vt:lpstr>
      <vt:lpstr>Merge Sort Example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Divide and Conquer</dc:title>
  <dc:creator>Gopal Sonune</dc:creator>
  <cp:lastModifiedBy>Gopal Sonune</cp:lastModifiedBy>
  <cp:revision>4</cp:revision>
  <dcterms:created xsi:type="dcterms:W3CDTF">2022-02-10T17:27:16Z</dcterms:created>
  <dcterms:modified xsi:type="dcterms:W3CDTF">2026-02-09T07:02:53Z</dcterms:modified>
</cp:coreProperties>
</file>